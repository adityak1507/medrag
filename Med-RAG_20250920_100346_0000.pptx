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DM Serif Display" charset="1" panose="00000000000000000000"/>
      <p:regular r:id="rId24"/>
    </p:embeddedFont>
    <p:embeddedFont>
      <p:font typeface="Open Sauce" charset="1" panose="00000500000000000000"/>
      <p:regular r:id="rId25"/>
    </p:embeddedFont>
    <p:embeddedFont>
      <p:font typeface="Open Sauce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43936" y="1460389"/>
            <a:ext cx="2642625" cy="5323970"/>
          </a:xfrm>
          <a:custGeom>
            <a:avLst/>
            <a:gdLst/>
            <a:ahLst/>
            <a:cxnLst/>
            <a:rect r="r" b="b" t="t" l="l"/>
            <a:pathLst>
              <a:path h="5323970" w="2642625">
                <a:moveTo>
                  <a:pt x="0" y="0"/>
                </a:moveTo>
                <a:lnTo>
                  <a:pt x="2642625" y="0"/>
                </a:lnTo>
                <a:lnTo>
                  <a:pt x="2642625" y="5323970"/>
                </a:lnTo>
                <a:lnTo>
                  <a:pt x="0" y="53239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Med-RAG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80543" y="5168219"/>
            <a:ext cx="99269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R</a:t>
            </a: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ETRIEVAL-AUGMENTED GENERATION SYSTEM FOR MEDICAL REPORT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80543" y="6898659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GUIDED BY: DR. PON HARSHWARDHANAN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6399" y="4338052"/>
            <a:ext cx="3152589" cy="4691648"/>
          </a:xfrm>
          <a:custGeom>
            <a:avLst/>
            <a:gdLst/>
            <a:ahLst/>
            <a:cxnLst/>
            <a:rect r="r" b="b" t="t" l="l"/>
            <a:pathLst>
              <a:path h="4691648" w="3152589">
                <a:moveTo>
                  <a:pt x="0" y="0"/>
                </a:moveTo>
                <a:lnTo>
                  <a:pt x="3152589" y="0"/>
                </a:lnTo>
                <a:lnTo>
                  <a:pt x="3152589" y="4691648"/>
                </a:lnTo>
                <a:lnTo>
                  <a:pt x="0" y="4691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 K Nandhini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23BHI10176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Gourikripa M 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223BAI11327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Prashant Kakde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22MIM10122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Ananthalekshmi 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23BHI10174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Aditya Kakade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22MIM10008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3003" y="8235315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Amita Maria Abraham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13003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23BHI10032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7282" y="8235315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Yashpal Singh Chouhan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67282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22MIM10100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66399" y="4921764"/>
            <a:ext cx="3084051" cy="2999239"/>
          </a:xfrm>
          <a:custGeom>
            <a:avLst/>
            <a:gdLst/>
            <a:ahLst/>
            <a:cxnLst/>
            <a:rect r="r" b="b" t="t" l="l"/>
            <a:pathLst>
              <a:path h="2999239" w="3084051">
                <a:moveTo>
                  <a:pt x="0" y="0"/>
                </a:moveTo>
                <a:lnTo>
                  <a:pt x="3084050" y="0"/>
                </a:lnTo>
                <a:lnTo>
                  <a:pt x="3084050" y="2999239"/>
                </a:lnTo>
                <a:lnTo>
                  <a:pt x="0" y="2999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3822789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Table of Contents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13003" y="3393172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3003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67282" y="3393172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67282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721560" y="3393172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Advantage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721560" y="2801683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3003" y="5571356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Motivation &amp; 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3003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67282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Implementation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67282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721560" y="557135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Future Scope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21560" y="4979867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13003" y="8235315"/>
            <a:ext cx="2537740" cy="9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13003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67282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&amp; demo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67282" y="7643826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21560" y="8235315"/>
            <a:ext cx="253774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21560" y="7643826"/>
            <a:ext cx="200025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079688" y="1028700"/>
            <a:ext cx="8128623" cy="8229600"/>
          </a:xfrm>
          <a:custGeom>
            <a:avLst/>
            <a:gdLst/>
            <a:ahLst/>
            <a:cxnLst/>
            <a:rect r="r" b="b" t="t" l="l"/>
            <a:pathLst>
              <a:path h="8229600" w="8128623">
                <a:moveTo>
                  <a:pt x="0" y="0"/>
                </a:moveTo>
                <a:lnTo>
                  <a:pt x="8128624" y="0"/>
                </a:lnTo>
                <a:lnTo>
                  <a:pt x="81286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75924" y="2490490"/>
            <a:ext cx="16230600" cy="39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healthcare 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ndust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ry gen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ates a massive amou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of unstructured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ata, particularly in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 of pa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tient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reports.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Manually sifting through these PDFs to find specific information is time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-consuming 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prone to human error.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Our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project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ims to automate this pro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 a Retri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-Augmented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Gener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(RAG) sy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em.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1014774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 and 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05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272103"/>
            <a:ext cx="16230600" cy="7742794"/>
          </a:xfrm>
          <a:custGeom>
            <a:avLst/>
            <a:gdLst/>
            <a:ahLst/>
            <a:cxnLst/>
            <a:rect r="r" b="b" t="t" l="l"/>
            <a:pathLst>
              <a:path h="7742794" w="16230600">
                <a:moveTo>
                  <a:pt x="0" y="0"/>
                </a:moveTo>
                <a:lnTo>
                  <a:pt x="16230600" y="0"/>
                </a:lnTo>
                <a:lnTo>
                  <a:pt x="16230600" y="7742794"/>
                </a:lnTo>
                <a:lnTo>
                  <a:pt x="0" y="774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2490490"/>
            <a:ext cx="16092901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 Challenge: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Medical reports, 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uch as pathology res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ults,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rge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and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radi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logy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scans, are typically stor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as un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ructu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red PDF documents.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Clinici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ans and researchers need to quickly access specific information (e.g., lab values, diagn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es,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 history) but this requires manual review.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leads to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ffi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iency,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ays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and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missing crucial data.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How 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 we build an intelligent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syst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that can understand and answer question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about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content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of a pat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ent's PDF medical report?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94974" y="1236037"/>
            <a:ext cx="1014774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2490490"/>
            <a:ext cx="16092901" cy="727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Mot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ivation: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Enhance Clinical Efficiency: Provide clinicians with rapid access to patient data, allowing them to focus on diagnosis and treatment.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 Patient Outcomes: Ensure no critical information is overlooked.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Enable Medical Research: Facilitate the analysis of large datasets of anonymized patient reports for research purposes.</a:t>
            </a:r>
          </a:p>
          <a:p>
            <a:pPr algn="l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Objectives: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Develop a system to ingest and process PDF medical reports.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Extract key information and semantically index it.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Integrate a pre-trained medical LLM for medical query answering.</a:t>
            </a:r>
          </a:p>
          <a:p>
            <a:pPr algn="l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Create a user-friendly interface to ask questions and receive accurate, context-aware answers based on the patient's data.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421325"/>
            <a:ext cx="16230600" cy="7444350"/>
          </a:xfrm>
          <a:custGeom>
            <a:avLst/>
            <a:gdLst/>
            <a:ahLst/>
            <a:cxnLst/>
            <a:rect r="r" b="b" t="t" l="l"/>
            <a:pathLst>
              <a:path h="7444350" w="16230600">
                <a:moveTo>
                  <a:pt x="0" y="0"/>
                </a:moveTo>
                <a:lnTo>
                  <a:pt x="16230600" y="0"/>
                </a:lnTo>
                <a:lnTo>
                  <a:pt x="16230600" y="7444350"/>
                </a:lnTo>
                <a:lnTo>
                  <a:pt x="0" y="744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6399" y="1233825"/>
            <a:ext cx="10147746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Motivation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2490490"/>
            <a:ext cx="16092901" cy="615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79"/>
              </a:lnSpc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RAG Architec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ture: We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rie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l-Augme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(RAG) fr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rk.</a:t>
            </a:r>
          </a:p>
          <a:p>
            <a:pPr algn="just">
              <a:lnSpc>
                <a:spcPts val="4479"/>
              </a:lnSpc>
            </a:pPr>
          </a:p>
          <a:p>
            <a:pPr algn="just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ps: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ges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PDF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rep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rt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uplo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sys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Chunking &amp; 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bedding: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DF con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tent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it into 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r, ma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ble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'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hunks'.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ach 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hunk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verted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numeric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 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ding)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cap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 se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aning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Indexing: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These embeddings are stored in a vector database. This creates a searchable index of the medical report's content.</a:t>
            </a:r>
          </a:p>
          <a:p>
            <a:pPr algn="just">
              <a:lnSpc>
                <a:spcPts val="4479"/>
              </a:lnSpc>
            </a:pPr>
          </a:p>
          <a:p>
            <a:pPr algn="just" marL="0" indent="0" lvl="0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Proposed Solution (Overview)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079688" y="1028700"/>
            <a:ext cx="8128623" cy="8229600"/>
          </a:xfrm>
          <a:custGeom>
            <a:avLst/>
            <a:gdLst/>
            <a:ahLst/>
            <a:cxnLst/>
            <a:rect r="r" b="b" t="t" l="l"/>
            <a:pathLst>
              <a:path h="8229600" w="8128623">
                <a:moveTo>
                  <a:pt x="0" y="0"/>
                </a:moveTo>
                <a:lnTo>
                  <a:pt x="8128624" y="0"/>
                </a:lnTo>
                <a:lnTo>
                  <a:pt x="81286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2530882"/>
            <a:ext cx="16092901" cy="39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4.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Retrieval: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When a user asks a question, the query is also converted into an embedding. The system then searches the vector database to retrieve the most relevant chunks from the original report.</a:t>
            </a:r>
          </a:p>
          <a:p>
            <a:pPr algn="just">
              <a:lnSpc>
                <a:spcPts val="4479"/>
              </a:lnSpc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5.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Generation: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 retrieved chunks (the context) are provided to a medical LLM along with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user's question. The LLM synthesizes an answer based on both the provided context and its own pre-trained knowledge.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97549" y="1255167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Proposed Solution (Overview)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72103"/>
            <a:ext cx="16230600" cy="7742794"/>
          </a:xfrm>
          <a:custGeom>
            <a:avLst/>
            <a:gdLst/>
            <a:ahLst/>
            <a:cxnLst/>
            <a:rect r="r" b="b" t="t" l="l"/>
            <a:pathLst>
              <a:path h="7742794" w="16230600">
                <a:moveTo>
                  <a:pt x="0" y="0"/>
                </a:moveTo>
                <a:lnTo>
                  <a:pt x="16230600" y="0"/>
                </a:lnTo>
                <a:lnTo>
                  <a:pt x="16230600" y="7742794"/>
                </a:lnTo>
                <a:lnTo>
                  <a:pt x="0" y="774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249944" y="2534187"/>
            <a:ext cx="13788112" cy="6430861"/>
          </a:xfrm>
          <a:custGeom>
            <a:avLst/>
            <a:gdLst/>
            <a:ahLst/>
            <a:cxnLst/>
            <a:rect r="r" b="b" t="t" l="l"/>
            <a:pathLst>
              <a:path h="6430861" w="13788112">
                <a:moveTo>
                  <a:pt x="0" y="0"/>
                </a:moveTo>
                <a:lnTo>
                  <a:pt x="13788112" y="0"/>
                </a:lnTo>
                <a:lnTo>
                  <a:pt x="13788112" y="6430861"/>
                </a:lnTo>
                <a:lnTo>
                  <a:pt x="0" y="6430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2661229"/>
            <a:ext cx="16092901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terface: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 web-based application where the user uploads the PDF and types their query.</a:t>
            </a:r>
          </a:p>
          <a:p>
            <a:pPr algn="just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PDF Ingestion Module: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Uses a library like PyMuPDF or Tesseract for text extraction.</a:t>
            </a:r>
          </a:p>
          <a:p>
            <a:pPr algn="just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Embedding Model: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pre-trained model (e.g., sentence-transformers) that converts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xt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 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ical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ctor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abas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pecial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abase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.g.,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maDB, 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econe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fficien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simil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ty 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arch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 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ctors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421325"/>
            <a:ext cx="16230600" cy="7444350"/>
          </a:xfrm>
          <a:custGeom>
            <a:avLst/>
            <a:gdLst/>
            <a:ahLst/>
            <a:cxnLst/>
            <a:rect r="r" b="b" t="t" l="l"/>
            <a:pathLst>
              <a:path h="7444350" w="16230600">
                <a:moveTo>
                  <a:pt x="0" y="0"/>
                </a:moveTo>
                <a:lnTo>
                  <a:pt x="16230600" y="0"/>
                </a:lnTo>
                <a:lnTo>
                  <a:pt x="16230600" y="7444350"/>
                </a:lnTo>
                <a:lnTo>
                  <a:pt x="0" y="744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2792699"/>
            <a:ext cx="16092901" cy="3343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edical LLM: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Large Language Model fine-tuned on medical data (e.g., BioGPT, or a fine-tuned version of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model).</a:t>
            </a:r>
          </a:p>
          <a:p>
            <a:pPr algn="just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API/B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ack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end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data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flow 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etwe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 all 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omponen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System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079688" y="1028700"/>
            <a:ext cx="8128623" cy="8229600"/>
          </a:xfrm>
          <a:custGeom>
            <a:avLst/>
            <a:gdLst/>
            <a:ahLst/>
            <a:cxnLst/>
            <a:rect r="r" b="b" t="t" l="l"/>
            <a:pathLst>
              <a:path h="8229600" w="8128623">
                <a:moveTo>
                  <a:pt x="0" y="0"/>
                </a:moveTo>
                <a:lnTo>
                  <a:pt x="8128624" y="0"/>
                </a:lnTo>
                <a:lnTo>
                  <a:pt x="81286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3052465"/>
            <a:ext cx="16092901" cy="615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Languag</a:t>
            </a: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Python is the primary programming language.</a:t>
            </a:r>
          </a:p>
          <a:p>
            <a:pPr algn="just">
              <a:lnSpc>
                <a:spcPts val="4479"/>
              </a:lnSpc>
            </a:pPr>
            <a:r>
              <a:rPr lang="en-US" b="true" sz="27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Frameworks: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LangChain: A powerful framework for building LLM applications, which will help us chain together the various components (retriever, LLM, etc.).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Flask/Streamlit: For building the user interface and backend API.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Libraries: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PyMuPDF: For robust text and image extraction from PDFs.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Sentence-Transformers: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For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ating high-quality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embeddings.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Chrom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aDB: Our chos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 ope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n-sourc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vector database.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formers: For int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eracting with the pr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e-trained medical LLM fr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 Hugging Face.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Implementation (Tech Stack)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72103"/>
            <a:ext cx="16230600" cy="7742794"/>
          </a:xfrm>
          <a:custGeom>
            <a:avLst/>
            <a:gdLst/>
            <a:ahLst/>
            <a:cxnLst/>
            <a:rect r="r" b="b" t="t" l="l"/>
            <a:pathLst>
              <a:path h="7742794" w="16230600">
                <a:moveTo>
                  <a:pt x="0" y="0"/>
                </a:moveTo>
                <a:lnTo>
                  <a:pt x="16230600" y="0"/>
                </a:lnTo>
                <a:lnTo>
                  <a:pt x="16230600" y="7742794"/>
                </a:lnTo>
                <a:lnTo>
                  <a:pt x="0" y="774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2490490"/>
            <a:ext cx="16092901" cy="727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Step 1: Data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Preparation: Load the PDF using PyMuPDF. Clean and preprocess the extracted text.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ep 2: Chunking: Split the text into overlapping chunks of a specific size (e.g., 500 characters) to preserve context.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Step 3: Embedding: Use a pre-trained sentence-transformer model to convert each text chunk into a dense vector.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Step 4: Indexing: Create an in-memory vector store using ChromaDB and add the embeddings and their corresp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onding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text chunks.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Step 5: Qu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ery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ing: When a user asks a question, we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embed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query. We 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 perform a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similarity search in 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vector store to find the most relevant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ocument chunks.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Step 6: LLM Augment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ation: Pass the user's query and the 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etrieved chunks to the medical LLM. The LLM generates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the final answer.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Implementation (Process)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853638"/>
            <a:ext cx="16230600" cy="7444350"/>
          </a:xfrm>
          <a:custGeom>
            <a:avLst/>
            <a:gdLst/>
            <a:ahLst/>
            <a:cxnLst/>
            <a:rect r="r" b="b" t="t" l="l"/>
            <a:pathLst>
              <a:path h="7444350" w="16230600">
                <a:moveTo>
                  <a:pt x="0" y="0"/>
                </a:moveTo>
                <a:lnTo>
                  <a:pt x="16230600" y="0"/>
                </a:lnTo>
                <a:lnTo>
                  <a:pt x="16230600" y="7444350"/>
                </a:lnTo>
                <a:lnTo>
                  <a:pt x="0" y="744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2771478"/>
            <a:ext cx="16092901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Demo Scenario: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Upload: Upload a sample PDF medical report.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Ask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1: Ask a simple question like, "What is the patient's blood pressure?"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 1: The system should quickly retrieve the relevant section from the PDF and provide the specific value.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Ask 2: Ask a more complex, inf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ential question like, "Are th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ere 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 signs of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infection?"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 2: The system will find relevant lab values (e.g., White Blood Cell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count) and use the LLM 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provide a coherent summary or answer.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Highlight the sp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eed and accuracy of the system compared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manual searching.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Results &amp; Demo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079688" y="1028700"/>
            <a:ext cx="8128623" cy="8229600"/>
          </a:xfrm>
          <a:custGeom>
            <a:avLst/>
            <a:gdLst/>
            <a:ahLst/>
            <a:cxnLst/>
            <a:rect r="r" b="b" t="t" l="l"/>
            <a:pathLst>
              <a:path h="8229600" w="8128623">
                <a:moveTo>
                  <a:pt x="0" y="0"/>
                </a:moveTo>
                <a:lnTo>
                  <a:pt x="8128624" y="0"/>
                </a:lnTo>
                <a:lnTo>
                  <a:pt x="81286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2771478"/>
            <a:ext cx="16092901" cy="559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Accuracy: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Reduces the chance of human error by automatically extracting and synthesizing information directly from the source.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Efficiency: Saves time for healthcare professionals, allowing them to make faster, more informed decisions.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Context-Awareness: The RAG approach ensures answers are grounded in the specific patient data, not just gen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eral LLM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knowl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edge.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Scalability: The system can handle a large number of rep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orts and que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ries, making it suitable for clinical and research settings.</a:t>
            </a:r>
          </a:p>
          <a:p>
            <a:pPr algn="just" marL="604519" indent="-302260" lvl="1">
              <a:lnSpc>
                <a:spcPts val="4479"/>
              </a:lnSpc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Cost-Effective: Us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a smaller, specialized LLM, which is more economical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run and fine-tune than a massive general-purpose model.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Advantages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272103"/>
            <a:ext cx="16230600" cy="7742794"/>
          </a:xfrm>
          <a:custGeom>
            <a:avLst/>
            <a:gdLst/>
            <a:ahLst/>
            <a:cxnLst/>
            <a:rect r="r" b="b" t="t" l="l"/>
            <a:pathLst>
              <a:path h="7742794" w="16230600">
                <a:moveTo>
                  <a:pt x="0" y="0"/>
                </a:moveTo>
                <a:lnTo>
                  <a:pt x="16230600" y="0"/>
                </a:lnTo>
                <a:lnTo>
                  <a:pt x="16230600" y="7742794"/>
                </a:lnTo>
                <a:lnTo>
                  <a:pt x="0" y="7742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2490490"/>
            <a:ext cx="16092901" cy="615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Integration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with Electronic Health Records (EHR): Directly connect the system to EHR databases for real-time data access.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Multi-modal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Analysis: Extend the system to process not just text but also images (e.g., X-ray scans, MRI results) and audio (e.g., doctor-patient conversations).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onalized Summaries: Develop features to generate concise, personalized summaries of a patient's medical history.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API for Dev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ers: Create a robust API that allows other heal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thca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 applications to integrate our RAG functionality.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Enhanced Security: Impl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ement advanced encryption and access control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to ensure patient data privacy and compliance with regulations like HIPAA.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421325"/>
            <a:ext cx="16230600" cy="7444350"/>
          </a:xfrm>
          <a:custGeom>
            <a:avLst/>
            <a:gdLst/>
            <a:ahLst/>
            <a:cxnLst/>
            <a:rect r="r" b="b" t="t" l="l"/>
            <a:pathLst>
              <a:path h="7444350" w="16230600">
                <a:moveTo>
                  <a:pt x="0" y="0"/>
                </a:moveTo>
                <a:lnTo>
                  <a:pt x="16230600" y="0"/>
                </a:lnTo>
                <a:lnTo>
                  <a:pt x="16230600" y="7444350"/>
                </a:lnTo>
                <a:lnTo>
                  <a:pt x="0" y="744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97549" y="2551430"/>
            <a:ext cx="16092901" cy="5029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Summ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ary: We have successfully 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uilt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RAG-based system that effectively extracts, indexes, and answers questions about patient data f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 PDF medical reports.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Impact: This project demonstrates a practical application of AI in h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ealthcare, improving efficiency, accuracy, and patien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 ca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Final Thoughts: The integration of Retrieval-Aug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mented Generation with specialized medical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LLMs holds immense potential to revolutionize how we interact with and utilize medical data.</a:t>
            </a:r>
          </a:p>
          <a:p>
            <a:pPr algn="just" marL="604519" indent="-302260" lvl="1">
              <a:lnSpc>
                <a:spcPts val="4479"/>
              </a:lnSpc>
              <a:buFont typeface="Arial"/>
              <a:buChar char="•"/>
            </a:pP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Thank You! Q&amp;A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203664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6" id="6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5079688" y="1028700"/>
            <a:ext cx="8128623" cy="8229600"/>
          </a:xfrm>
          <a:custGeom>
            <a:avLst/>
            <a:gdLst/>
            <a:ahLst/>
            <a:cxnLst/>
            <a:rect r="r" b="b" t="t" l="l"/>
            <a:pathLst>
              <a:path h="8229600" w="8128623">
                <a:moveTo>
                  <a:pt x="0" y="0"/>
                </a:moveTo>
                <a:lnTo>
                  <a:pt x="8128624" y="0"/>
                </a:lnTo>
                <a:lnTo>
                  <a:pt x="812862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DAGzbZhx4_M</dc:identifier>
  <dcterms:modified xsi:type="dcterms:W3CDTF">2011-08-01T06:04:30Z</dcterms:modified>
  <cp:revision>1</cp:revision>
  <dc:title>Med-RAG</dc:title>
</cp:coreProperties>
</file>